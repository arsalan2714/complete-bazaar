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4892040" cy="6858000"/>
          </a:xfrm>
          <a:prstGeom prst="roundRect">
            <a:avLst>
              <a:gd name="adj" fmla="val 8000"/>
            </a:avLst>
          </a:prstGeom>
          <a:solidFill>
            <a:srgbClr val="12223B"/>
          </a:solidFill>
          <a:ln w="10160">
            <a:solidFill>
              <a:srgbClr val="12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1097280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Complete</a:t>
            </a:r>
            <a:br/>
            <a:r>
              <a:rPr sz="3400" b="1">
                <a:solidFill>
                  <a:srgbClr val="FFFFFF"/>
                </a:solidFill>
                <a:latin typeface="Aptos"/>
              </a:rPr>
              <a:t>Bazaar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BED3EB"/>
                </a:solidFill>
                <a:latin typeface="Aptos"/>
              </a:rPr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A multi-role e-commerce platform built with the MERN stack.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57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BED3EB"/>
                </a:solidFill>
                <a:latin typeface="Aptos"/>
              </a:rP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05272"/>
            <a:ext cx="3291840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300" b="1" dirty="0">
                <a:solidFill>
                  <a:srgbClr val="FFFFFF"/>
                </a:solidFill>
                <a:latin typeface="Aptos"/>
              </a:rPr>
              <a:t>Md </a:t>
            </a:r>
            <a:r>
              <a:rPr sz="2300" b="1" dirty="0">
                <a:solidFill>
                  <a:srgbClr val="FFFFFF"/>
                </a:solidFill>
                <a:latin typeface="Aptos"/>
              </a:rPr>
              <a:t>Arsalan</a:t>
            </a:r>
            <a:r>
              <a:rPr lang="en-US" sz="2300" b="1" dirty="0">
                <a:solidFill>
                  <a:srgbClr val="FFFFFF"/>
                </a:solidFill>
                <a:latin typeface="Aptos"/>
              </a:rPr>
              <a:t> Ali</a:t>
            </a:r>
            <a:endParaRPr sz="23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23560" y="1051560"/>
            <a:ext cx="57607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80760" y="1554480"/>
            <a:ext cx="48463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2864B4"/>
                </a:solidFill>
                <a:latin typeface="Aptos"/>
              </a:rPr>
              <a:t>PROJECT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103120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2223B"/>
                </a:solidFill>
                <a:latin typeface="Aptos"/>
              </a:rPr>
              <a:t>From browsing to order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063240"/>
            <a:ext cx="4754880" cy="57607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80760" y="3063240"/>
            <a:ext cx="82296" cy="576072"/>
          </a:xfrm>
          <a:prstGeom prst="roundRect">
            <a:avLst>
              <a:gd name="adj" fmla="val 8000"/>
            </a:avLst>
          </a:prstGeom>
          <a:solidFill>
            <a:srgbClr val="2864B4"/>
          </a:solidFill>
          <a:ln w="10160"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3136392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864B4"/>
                </a:solidFill>
                <a:latin typeface="Aptos"/>
              </a:rP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136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263242"/>
                </a:solidFill>
                <a:latin typeface="Aptos"/>
              </a:rPr>
              <a:t>Discover &amp; purchase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840480"/>
            <a:ext cx="4754880" cy="57607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080760" y="3840480"/>
            <a:ext cx="82296" cy="576072"/>
          </a:xfrm>
          <a:prstGeom prst="roundRect">
            <a:avLst>
              <a:gd name="adj" fmla="val 8000"/>
            </a:avLst>
          </a:prstGeom>
          <a:solidFill>
            <a:srgbClr val="1C9691"/>
          </a:solidFill>
          <a:ln w="10160">
            <a:solidFill>
              <a:srgbClr val="1C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3913632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C9691"/>
                </a:solidFill>
                <a:latin typeface="Aptos"/>
              </a:rPr>
              <a:t>SELLER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9136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263242"/>
                </a:solidFill>
                <a:latin typeface="Aptos"/>
              </a:rPr>
              <a:t>List &amp; manage products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4617720"/>
            <a:ext cx="4754880" cy="57607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080760" y="4617720"/>
            <a:ext cx="82296" cy="576072"/>
          </a:xfrm>
          <a:prstGeom prst="roundRect">
            <a:avLst>
              <a:gd name="adj" fmla="val 8000"/>
            </a:avLst>
          </a:prstGeom>
          <a:solidFill>
            <a:srgbClr val="E0A54A"/>
          </a:solidFill>
          <a:ln w="10160">
            <a:solidFill>
              <a:srgbClr val="E0A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4690872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0A54A"/>
                </a:solidFill>
                <a:latin typeface="Aptos"/>
              </a:rPr>
              <a:t>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6908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263242"/>
                </a:solidFill>
                <a:latin typeface="Aptos"/>
              </a:rPr>
              <a:t>Oversee the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8000"/>
            </a:avLst>
          </a:prstGeom>
          <a:solidFill>
            <a:srgbClr val="2864B4"/>
          </a:solidFill>
          <a:ln w="10160"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12223B"/>
                </a:solidFill>
                <a:latin typeface="Aptos"/>
              </a:rPr>
              <a:t>1. Problem &amp;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5E6C7D"/>
                </a:solidFill>
                <a:latin typeface="Aptos"/>
              </a:rPr>
              <a:t>COMPLETE BAZAAR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2864B4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45262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73152" cy="4526280"/>
          </a:xfrm>
          <a:prstGeom prst="roundRect">
            <a:avLst>
              <a:gd name="adj" fmla="val 8000"/>
            </a:avLst>
          </a:prstGeom>
          <a:solidFill>
            <a:srgbClr val="2864B4"/>
          </a:solidFill>
          <a:ln w="10160"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508760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2223B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984248"/>
            <a:ext cx="46634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63242"/>
                </a:solidFill>
                <a:latin typeface="Aptos"/>
              </a:rPr>
              <a:t>Online marketplaces need clear workflows for buyers and sellers.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63242"/>
                </a:solidFill>
                <a:latin typeface="Aptos"/>
              </a:rPr>
              <a:t>Product discovery, purchasing, and seller operations should work together.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63242"/>
                </a:solidFill>
                <a:latin typeface="Aptos"/>
              </a:rPr>
              <a:t>Administrators need a central place to manage marketplace activity.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120640" cy="45262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73152" cy="4526280"/>
          </a:xfrm>
          <a:prstGeom prst="roundRect">
            <a:avLst>
              <a:gd name="adj" fmla="val 8000"/>
            </a:avLst>
          </a:prstGeom>
          <a:solidFill>
            <a:srgbClr val="1C9691"/>
          </a:solidFill>
          <a:ln w="10160">
            <a:solidFill>
              <a:srgbClr val="1C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3096" y="1508760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2223B"/>
                </a:solidFill>
                <a:latin typeface="Aptos"/>
              </a:rP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1984248"/>
            <a:ext cx="46634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63242"/>
                </a:solidFill>
                <a:latin typeface="Aptos"/>
              </a:rPr>
              <a:t>Build one application for customers, sellers, and administrators.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63242"/>
                </a:solidFill>
                <a:latin typeface="Aptos"/>
              </a:rPr>
              <a:t>Support product browsing, cart, checkout, and order history.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63242"/>
                </a:solidFill>
                <a:latin typeface="Aptos"/>
              </a:rPr>
              <a:t>Provide seller product management and admin oversight.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63242"/>
                </a:solidFill>
                <a:latin typeface="Aptos"/>
              </a:rPr>
              <a:t>Use a maintainable full-stack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8000"/>
            </a:avLst>
          </a:prstGeom>
          <a:solidFill>
            <a:srgbClr val="2864B4"/>
          </a:solidFill>
          <a:ln w="10160"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 dirty="0">
                <a:solidFill>
                  <a:srgbClr val="12223B"/>
                </a:solidFill>
                <a:latin typeface="Aptos"/>
              </a:rPr>
              <a:t>2.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5E6C7D"/>
                </a:solidFill>
                <a:latin typeface="Aptos"/>
              </a:rPr>
              <a:t>COMPLETE BAZAAR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2864B4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dirty="0">
                <a:solidFill>
                  <a:srgbClr val="12223B"/>
                </a:solidFill>
                <a:latin typeface="Aptos"/>
              </a:rPr>
              <a:t>One marketplace. Three role-specific experiences.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337560" cy="33375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73152" cy="3337560"/>
          </a:xfrm>
          <a:prstGeom prst="roundRect">
            <a:avLst>
              <a:gd name="adj" fmla="val 8000"/>
            </a:avLst>
          </a:prstGeom>
          <a:solidFill>
            <a:srgbClr val="2864B4"/>
          </a:solidFill>
          <a:ln w="10160"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6696" y="214884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2223B"/>
                </a:solidFill>
                <a:latin typeface="Aptos"/>
              </a:rP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2624328"/>
            <a:ext cx="28803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Explore products and categories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Manage cart and wishlist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Place and review 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65960"/>
            <a:ext cx="3337560" cy="33375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34840" y="1965960"/>
            <a:ext cx="73152" cy="3337560"/>
          </a:xfrm>
          <a:prstGeom prst="roundRect">
            <a:avLst>
              <a:gd name="adj" fmla="val 8000"/>
            </a:avLst>
          </a:prstGeom>
          <a:solidFill>
            <a:srgbClr val="1C9691"/>
          </a:solidFill>
          <a:ln w="10160">
            <a:solidFill>
              <a:srgbClr val="1C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54296" y="214884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2223B"/>
                </a:solidFill>
                <a:latin typeface="Aptos"/>
              </a:rPr>
              <a:t>Seller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624328"/>
            <a:ext cx="28803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Create and edit listings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Manage a product catalog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Access seller-facing pages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965960"/>
            <a:ext cx="3337560" cy="33375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92440" y="1965960"/>
            <a:ext cx="73152" cy="3337560"/>
          </a:xfrm>
          <a:prstGeom prst="roundRect">
            <a:avLst>
              <a:gd name="adj" fmla="val 8000"/>
            </a:avLst>
          </a:prstGeom>
          <a:solidFill>
            <a:srgbClr val="E0A54A"/>
          </a:solidFill>
          <a:ln w="10160">
            <a:solidFill>
              <a:srgbClr val="E0A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1896" y="214884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2223B"/>
                </a:solidFill>
                <a:latin typeface="Aptos"/>
              </a:rPr>
              <a:t>Administrator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624328"/>
            <a:ext cx="28803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Manage users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Review products and orders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Use a separate admin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8000"/>
            </a:avLst>
          </a:prstGeom>
          <a:solidFill>
            <a:srgbClr val="2864B4"/>
          </a:solidFill>
          <a:ln w="10160"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12223B"/>
                </a:solidFill>
                <a:latin typeface="Aptos"/>
              </a:rPr>
              <a:t>3. Customer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5E6C7D"/>
                </a:solidFill>
                <a:latin typeface="Aptos"/>
              </a:rPr>
              <a:t>COMPLETE BAZAAR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2864B4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5E6C7D"/>
                </a:solidFill>
                <a:latin typeface="Aptos"/>
              </a:rPr>
              <a:t>A straightforward path from discovery to post-purchase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901952" cy="2103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C969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2223B"/>
                </a:solidFill>
                <a:latin typeface="Aptos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64992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63242"/>
                </a:solidFill>
                <a:latin typeface="Aptos"/>
              </a:rPr>
              <a:t>Home, products, categories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79192" y="3200400"/>
            <a:ext cx="310896" cy="0"/>
          </a:xfrm>
          <a:prstGeom prst="line">
            <a:avLst/>
          </a:prstGeom>
          <a:ln w="25400">
            <a:solidFill>
              <a:srgbClr val="1C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044952" y="2148840"/>
            <a:ext cx="1901952" cy="2103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27832" y="235915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C9691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28803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2223B"/>
                </a:solidFill>
                <a:latin typeface="Aptos"/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3364992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63242"/>
                </a:solidFill>
                <a:latin typeface="Aptos"/>
              </a:rPr>
              <a:t>Product details and reviews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46904" y="3200400"/>
            <a:ext cx="310896" cy="0"/>
          </a:xfrm>
          <a:prstGeom prst="line">
            <a:avLst/>
          </a:prstGeom>
          <a:ln w="25400">
            <a:solidFill>
              <a:srgbClr val="1C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12664" y="2148840"/>
            <a:ext cx="1901952" cy="2103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95544" y="235915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C9691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95544" y="28803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2223B"/>
                </a:solidFill>
                <a:latin typeface="Aptos"/>
              </a:rPr>
              <a:t>Prepare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95544" y="3364992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63242"/>
                </a:solidFill>
                <a:latin typeface="Aptos"/>
              </a:rPr>
              <a:t>Wishlist and shopping cart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14616" y="3200400"/>
            <a:ext cx="310896" cy="0"/>
          </a:xfrm>
          <a:prstGeom prst="line">
            <a:avLst/>
          </a:prstGeom>
          <a:ln w="25400">
            <a:solidFill>
              <a:srgbClr val="1C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80375" y="2148840"/>
            <a:ext cx="1901952" cy="2103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63255" y="235915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C9691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5" y="28803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2223B"/>
                </a:solidFill>
                <a:latin typeface="Aptos"/>
              </a:rPr>
              <a:t>Purchase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5" y="3364992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63242"/>
                </a:solidFill>
                <a:latin typeface="Aptos"/>
              </a:rPr>
              <a:t>Checkout and payment flow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82327" y="3200400"/>
            <a:ext cx="310896" cy="0"/>
          </a:xfrm>
          <a:prstGeom prst="line">
            <a:avLst/>
          </a:prstGeom>
          <a:ln w="25400">
            <a:solidFill>
              <a:srgbClr val="1C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848088" y="2148840"/>
            <a:ext cx="1901952" cy="2103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30968" y="235915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C9691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0968" y="28803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2223B"/>
                </a:solidFill>
                <a:latin typeface="Aptos"/>
              </a:rPr>
              <a:t>Manage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8" y="3364992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63242"/>
                </a:solidFill>
                <a:latin typeface="Aptos"/>
              </a:rPr>
              <a:t>Order history and profile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709160"/>
            <a:ext cx="10698480" cy="713232"/>
          </a:xfrm>
          <a:prstGeom prst="roundRect">
            <a:avLst>
              <a:gd name="adj" fmla="val 8000"/>
            </a:avLst>
          </a:prstGeom>
          <a:solidFill>
            <a:srgbClr val="E8F0F9"/>
          </a:solidFill>
          <a:ln w="10160"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4901184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2223B"/>
                </a:solidFill>
                <a:latin typeface="Aptos"/>
              </a:rPr>
              <a:t>Customer pages include cart, wishlist, checkout, orders, profile, and account security.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8000"/>
            </a:avLst>
          </a:prstGeom>
          <a:solidFill>
            <a:srgbClr val="2864B4"/>
          </a:solidFill>
          <a:ln w="10160"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 dirty="0">
                <a:solidFill>
                  <a:srgbClr val="12223B"/>
                </a:solidFill>
                <a:latin typeface="Aptos"/>
              </a:rPr>
              <a:t>4. Seller &amp; Admin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5E6C7D"/>
                </a:solidFill>
                <a:latin typeface="Aptos"/>
              </a:rPr>
              <a:t>COMPLETE BAZAAR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2864B4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166360" cy="44348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73152" cy="4434840"/>
          </a:xfrm>
          <a:prstGeom prst="roundRect">
            <a:avLst>
              <a:gd name="adj" fmla="val 8000"/>
            </a:avLst>
          </a:prstGeom>
          <a:solidFill>
            <a:srgbClr val="1C9691"/>
          </a:solidFill>
          <a:ln w="10160">
            <a:solidFill>
              <a:srgbClr val="1C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6" y="1600200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2223B"/>
                </a:solidFill>
                <a:latin typeface="Aptos"/>
              </a:rPr>
              <a:t>Seller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2075688"/>
            <a:ext cx="47091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63242"/>
                </a:solidFill>
                <a:latin typeface="Aptos"/>
              </a:rPr>
              <a:t>Add products and update existing listings.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63242"/>
                </a:solidFill>
                <a:latin typeface="Aptos"/>
              </a:rPr>
              <a:t>Maintain product information and inventory details.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63242"/>
                </a:solidFill>
                <a:latin typeface="Aptos"/>
              </a:rPr>
              <a:t>Access seller product and home views.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63242"/>
                </a:solidFill>
                <a:latin typeface="Aptos"/>
              </a:rPr>
              <a:t>Seller actions use authenticated, role-protected routes.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66360" cy="44348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73152" cy="4434840"/>
          </a:xfrm>
          <a:prstGeom prst="roundRect">
            <a:avLst>
              <a:gd name="adj" fmla="val 8000"/>
            </a:avLst>
          </a:prstGeom>
          <a:solidFill>
            <a:srgbClr val="2864B4"/>
          </a:solidFill>
          <a:ln w="10160"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3096" y="1600200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2223B"/>
                </a:solidFill>
                <a:latin typeface="Aptos"/>
              </a:rPr>
              <a:t>Admin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075688"/>
            <a:ext cx="47091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63242"/>
                </a:solidFill>
                <a:latin typeface="Aptos"/>
              </a:rPr>
              <a:t>Manage platform users and product records.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63242"/>
                </a:solidFill>
                <a:latin typeface="Aptos"/>
              </a:rPr>
              <a:t>Review and manage marketplace orders.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63242"/>
                </a:solidFill>
                <a:latin typeface="Aptos"/>
              </a:rPr>
              <a:t>Use a dedicated admin frontend and dashboard.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63242"/>
                </a:solidFill>
                <a:latin typeface="Aptos"/>
              </a:rPr>
              <a:t>Keep administrative operations separate from customer 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8000"/>
            </a:avLst>
          </a:prstGeom>
          <a:solidFill>
            <a:srgbClr val="2864B4"/>
          </a:solidFill>
          <a:ln w="10160"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12223B"/>
                </a:solidFill>
                <a:latin typeface="Aptos"/>
              </a:rPr>
              <a:t>5. Application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5E6C7D"/>
                </a:solidFill>
                <a:latin typeface="Aptos"/>
              </a:rPr>
              <a:t>COMPLETE BAZAAR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2864B4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5E6C7D"/>
                </a:solidFill>
                <a:latin typeface="Aptos"/>
              </a:rPr>
              <a:t>Three application layers connected through HTTP APIs.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2788920" cy="1874519"/>
          </a:xfrm>
          <a:prstGeom prst="roundRect">
            <a:avLst>
              <a:gd name="adj" fmla="val 8000"/>
            </a:avLst>
          </a:prstGeom>
          <a:solidFill>
            <a:srgbClr val="E8F0F9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2223B"/>
                </a:solidFill>
                <a:latin typeface="Aptos"/>
              </a:rPr>
              <a:t>React frontends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44368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263242"/>
                </a:solidFill>
                <a:latin typeface="Aptos"/>
              </a:rPr>
              <a:t>Customer/seller UI</a:t>
            </a:r>
            <a:br/>
            <a:r>
              <a:rPr sz="1400" b="0">
                <a:solidFill>
                  <a:srgbClr val="263242"/>
                </a:solidFill>
                <a:latin typeface="Aptos"/>
              </a:rPr>
              <a:t>Separate admin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57400"/>
            <a:ext cx="2788920" cy="1874519"/>
          </a:xfrm>
          <a:prstGeom prst="roundRect">
            <a:avLst>
              <a:gd name="adj" fmla="val 8000"/>
            </a:avLst>
          </a:prstGeom>
          <a:solidFill>
            <a:srgbClr val="E8F0F9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2223B"/>
                </a:solidFill>
                <a:latin typeface="Aptos"/>
              </a:rPr>
              <a:t>Express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44368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263242"/>
                </a:solidFill>
                <a:latin typeface="Aptos"/>
              </a:rPr>
              <a:t>REST routes</a:t>
            </a:r>
            <a:br/>
            <a:r>
              <a:rPr sz="1400" b="0">
                <a:solidFill>
                  <a:srgbClr val="263242"/>
                </a:solidFill>
                <a:latin typeface="Aptos"/>
              </a:rPr>
              <a:t>Controllers &amp; middleware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057400"/>
            <a:ext cx="2788920" cy="1874519"/>
          </a:xfrm>
          <a:prstGeom prst="roundRect">
            <a:avLst>
              <a:gd name="adj" fmla="val 8000"/>
            </a:avLst>
          </a:prstGeom>
          <a:solidFill>
            <a:srgbClr val="E8F0F9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237744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2223B"/>
                </a:solidFill>
                <a:latin typeface="Aptos"/>
              </a:rPr>
              <a:t>MongoDB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944368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263242"/>
                </a:solidFill>
                <a:latin typeface="Aptos"/>
              </a:rPr>
              <a:t>Mongoose models</a:t>
            </a:r>
            <a:br/>
            <a:r>
              <a:rPr sz="1400" b="0">
                <a:solidFill>
                  <a:srgbClr val="263242"/>
                </a:solidFill>
                <a:latin typeface="Aptos"/>
              </a:rPr>
              <a:t>Users, products, orders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11880" y="2971800"/>
            <a:ext cx="640080" cy="0"/>
          </a:xfrm>
          <a:prstGeom prst="line">
            <a:avLst/>
          </a:prstGeom>
          <a:ln w="25400">
            <a:solidFill>
              <a:srgbClr val="1C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32320" y="2971800"/>
            <a:ext cx="640080" cy="0"/>
          </a:xfrm>
          <a:prstGeom prst="line">
            <a:avLst/>
          </a:prstGeom>
          <a:ln w="25400">
            <a:solidFill>
              <a:srgbClr val="1C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" y="4617720"/>
            <a:ext cx="9829800" cy="731520"/>
          </a:xfrm>
          <a:prstGeom prst="roundRect">
            <a:avLst>
              <a:gd name="adj" fmla="val 8000"/>
            </a:avLst>
          </a:prstGeom>
          <a:solidFill>
            <a:srgbClr val="12223B"/>
          </a:solidFill>
          <a:ln w="10160">
            <a:solidFill>
              <a:srgbClr val="12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828032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Frontend state: Redux Toolkit   |   Routing: React Router   |   Data layer: MongoDB + Mongoose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8000"/>
            </a:avLst>
          </a:prstGeom>
          <a:solidFill>
            <a:srgbClr val="2864B4"/>
          </a:solidFill>
          <a:ln w="10160"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12223B"/>
                </a:solidFill>
                <a:latin typeface="Aptos"/>
              </a:rPr>
              <a:t>6.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5E6C7D"/>
                </a:solidFill>
                <a:latin typeface="Aptos"/>
              </a:rPr>
              <a:t>COMPLETE BAZAAR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2864B4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864B4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2223B"/>
                </a:solidFill>
                <a:latin typeface="Aptos"/>
              </a:rPr>
              <a:t>React 19, Vite, Tailwind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59" y="16916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864B4"/>
                </a:solidFill>
                <a:latin typeface="Aptos"/>
              </a:rPr>
              <a:t>State &amp;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216712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2223B"/>
                </a:solidFill>
                <a:latin typeface="Aptos"/>
              </a:rPr>
              <a:t>Redux Toolkit, React Router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50876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9" y="16916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864B4"/>
                </a:solidFill>
                <a:latin typeface="Aptos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9" y="216712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2223B"/>
                </a:solidFill>
                <a:latin typeface="Aptos"/>
              </a:rPr>
              <a:t>Node.js, Express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7472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864B4"/>
                </a:solidFill>
                <a:latin typeface="Aptos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3308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2223B"/>
                </a:solidFill>
                <a:latin typeface="Aptos"/>
              </a:rPr>
              <a:t>MongoDB, Mongoose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347472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9159" y="36576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864B4"/>
                </a:solidFill>
                <a:latin typeface="Aptos"/>
              </a:rPr>
              <a:t>Payments &amp;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413308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2223B"/>
                </a:solidFill>
                <a:latin typeface="Aptos"/>
              </a:rPr>
              <a:t>Razorpay, Multer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47472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9" y="36576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864B4"/>
                </a:solidFill>
                <a:latin typeface="Aptos"/>
              </a:rPr>
              <a:t>Supporting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9" y="413308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2223B"/>
                </a:solidFill>
                <a:latin typeface="Aptos"/>
              </a:rPr>
              <a:t>JWT, bcrypt, Nodemailer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8000"/>
            </a:avLst>
          </a:prstGeom>
          <a:solidFill>
            <a:srgbClr val="1C9691"/>
          </a:solidFill>
          <a:ln w="10160">
            <a:solidFill>
              <a:srgbClr val="1C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12223B"/>
                </a:solidFill>
                <a:latin typeface="Aptos"/>
              </a:rPr>
              <a:t>7. Authentication, Security &amp; 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5E6C7D"/>
                </a:solidFill>
                <a:latin typeface="Aptos"/>
              </a:rPr>
              <a:t>COMPLETE BAZAAR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C9691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166360" cy="4343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73152" cy="4343400"/>
          </a:xfrm>
          <a:prstGeom prst="roundRect">
            <a:avLst>
              <a:gd name="adj" fmla="val 8000"/>
            </a:avLst>
          </a:prstGeom>
          <a:solidFill>
            <a:srgbClr val="2864B4"/>
          </a:solidFill>
          <a:ln w="10160"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6" y="1600200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2223B"/>
                </a:solidFill>
                <a:latin typeface="Aptos"/>
              </a:rPr>
              <a:t>Access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2075688"/>
            <a:ext cx="47091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JWT-based authentication middleware protects routes.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Role checks distinguish customer and seller access.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Admin has a dedicated authentication interface.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bcrypt is included for password hashing.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66360" cy="4343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73152" cy="4343400"/>
          </a:xfrm>
          <a:prstGeom prst="roundRect">
            <a:avLst>
              <a:gd name="adj" fmla="val 8000"/>
            </a:avLst>
          </a:prstGeom>
          <a:solidFill>
            <a:srgbClr val="1C9691"/>
          </a:solidFill>
          <a:ln w="10160">
            <a:solidFill>
              <a:srgbClr val="1C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3096" y="1600200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2223B"/>
                </a:solidFill>
                <a:latin typeface="Aptos"/>
              </a:rPr>
              <a:t>Checkout &amp;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075688"/>
            <a:ext cx="47091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Razorpay is included for payment integration.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Express exposes API routes for marketplace features.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Mongoose models represent users, products, orders, and reviews.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Account features include profile and security pages.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8000"/>
            </a:avLst>
          </a:prstGeom>
          <a:solidFill>
            <a:srgbClr val="2864B4"/>
          </a:solidFill>
          <a:ln w="10160"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12223B"/>
                </a:solidFill>
                <a:latin typeface="Aptos"/>
              </a:rPr>
              <a:t>8. Engineering Decisions &amp;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5E6C7D"/>
                </a:solidFill>
                <a:latin typeface="Aptos"/>
              </a:rPr>
              <a:t>COMPLETE BAZAAR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2864B4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5166360" cy="4389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371600"/>
            <a:ext cx="73152" cy="4389120"/>
          </a:xfrm>
          <a:prstGeom prst="roundRect">
            <a:avLst>
              <a:gd name="adj" fmla="val 8000"/>
            </a:avLst>
          </a:prstGeom>
          <a:solidFill>
            <a:srgbClr val="2864B4"/>
          </a:solidFill>
          <a:ln w="10160"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6" y="1554480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2223B"/>
                </a:solidFill>
                <a:latin typeface="Aptos"/>
              </a:rPr>
              <a:t>Design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2029968"/>
            <a:ext cx="470916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Separated customer/seller experiences from the admin panel.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Organized backend features into routers, controllers, models, and middleware.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Used Redux Toolkit to organize frontend application state.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Kept role checks in backend middleware for protected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166360" cy="4389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73152" cy="4389120"/>
          </a:xfrm>
          <a:prstGeom prst="roundRect">
            <a:avLst>
              <a:gd name="adj" fmla="val 8000"/>
            </a:avLst>
          </a:prstGeom>
          <a:solidFill>
            <a:srgbClr val="1C9691"/>
          </a:solidFill>
          <a:ln w="10160">
            <a:solidFill>
              <a:srgbClr val="1C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3096" y="1554480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2223B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029968"/>
            <a:ext cx="470916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Full-stack feature integration across UI, APIs, and database.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Role-based application flows for different user types.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Practical e-commerce concepts: catalog, cart, orders, and checkout.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63242"/>
                </a:solidFill>
                <a:latin typeface="Aptos"/>
              </a:rPr>
              <a:t>A foundation that can be extended with testing and analytics.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640080"/>
            <a:ext cx="109728" cy="5394960"/>
          </a:xfrm>
          <a:prstGeom prst="roundRect">
            <a:avLst>
              <a:gd name="adj" fmla="val 8000"/>
            </a:avLst>
          </a:prstGeom>
          <a:solidFill>
            <a:srgbClr val="1C9691"/>
          </a:solidFill>
          <a:ln w="10160">
            <a:solidFill>
              <a:srgbClr val="1C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914400"/>
            <a:ext cx="9875520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500" b="1" dirty="0">
                <a:solidFill>
                  <a:srgbClr val="96D2CD"/>
                </a:solidFill>
                <a:latin typeface="Aptos"/>
              </a:rPr>
              <a:t>9</a:t>
            </a:r>
            <a:r>
              <a:rPr sz="1200" b="1" dirty="0">
                <a:solidFill>
                  <a:srgbClr val="96D2CD"/>
                </a:solidFill>
                <a:latin typeface="Aptos"/>
              </a:rPr>
              <a:t>. </a:t>
            </a:r>
            <a:r>
              <a:rPr sz="2500" b="1" dirty="0">
                <a:solidFill>
                  <a:srgbClr val="96D2CD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0"/>
            <a:ext cx="9875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Complete Bazaar brings marketplace roles into one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0"/>
            <a:ext cx="89611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Aptos"/>
              </a:rPr>
              <a:t>Customers can discover products, manage a cart, and review orders.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Aptos"/>
              </a:rPr>
              <a:t>Sellers can create and maintain product listings.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Aptos"/>
              </a:rPr>
              <a:t>Administrators can oversee users, products, and orders.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Aptos"/>
              </a:rPr>
              <a:t>The MERN foundation supports continued feature development.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623560"/>
            <a:ext cx="886968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96D2CD"/>
                </a:solidFill>
                <a:latin typeface="Aptos"/>
              </a:rPr>
              <a:t>Thank you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731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96D2CD"/>
                </a:solidFill>
                <a:latin typeface="Apto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672</Words>
  <Application>Microsoft Office PowerPoint</Application>
  <PresentationFormat>Widescreen</PresentationFormat>
  <Paragraphs>134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Md Arsalan Ali</cp:lastModifiedBy>
  <cp:revision>2</cp:revision>
  <dcterms:created xsi:type="dcterms:W3CDTF">2013-01-27T09:14:16Z</dcterms:created>
  <dcterms:modified xsi:type="dcterms:W3CDTF">2026-10-08T06:54:24Z</dcterms:modified>
  <cp:category/>
</cp:coreProperties>
</file>